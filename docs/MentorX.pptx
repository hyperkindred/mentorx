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8" r:id="rId11"/>
    <p:sldId id="276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8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FFB11-B168-4F8C-AE04-9F69AD51E9F9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691787-4D6D-4369-9DD9-D188EF96FD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46590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91787-4D6D-4369-9DD9-D188EF96FD4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68303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91787-4D6D-4369-9DD9-D188EF96FD42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20690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9042F-390C-C1EF-9D75-BCBDEC66FF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3666FF8-3B26-058A-6008-DFC0FEBA25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7A5B029-66CC-465F-FB35-157499252B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25FC220-1CA6-4564-24ED-E5F2E01428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91787-4D6D-4369-9DD9-D188EF96FD4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13587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E148C2-7B19-4147-AFED-E463A0AB66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8A9001E-B7D1-D5F3-CACA-A5678024B2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74394ACE-C61D-1E81-E3C1-38D3439D9F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BC9FCA-D4B3-CBCE-924F-F7960EC294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91787-4D6D-4369-9DD9-D188EF96FD4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00897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EB984-CCE5-D99B-552E-1834C10AF8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EBD9B76-FA30-AEA6-1BFB-88DDADCDD8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2763285-6C69-55AB-BD32-BB9A2EC5D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B97198-07A4-D57E-57A6-30D3D34640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91787-4D6D-4369-9DD9-D188EF96FD42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03409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A794E-1355-4A7E-3A50-969584A46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458A600-4B3C-C074-5749-694ECC8A73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92ECA0D-4C24-78F8-8AC7-D93D7B911CD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F6149F2-F58D-CB5B-870A-8CB8CC1FDB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91787-4D6D-4369-9DD9-D188EF96FD4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34359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2C46D-DA12-8532-5486-22B01A07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AEBE94F-6E99-1A77-17EE-8441BCB16D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D4DADEF-2E90-5C78-35F4-99FFAF9FC8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4D4887-5137-B4E7-5347-2C8CD47B50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691787-4D6D-4369-9DD9-D188EF96FD4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0623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07480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5412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715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935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780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05995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628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5971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4616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27817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12124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48470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118853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21106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99594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29173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D77284-4B3B-4664-88D5-852EE2FC1068}" type="datetimeFigureOut">
              <a:rPr lang="zh-CN" altLang="en-US" smtClean="0"/>
              <a:t>2025/6/29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67E5F4B7-9A89-4717-B070-8ED5B87F3F5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4938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AFD08-D818-BD41-18A5-8017A96AFF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08821" y="1362540"/>
            <a:ext cx="7766936" cy="1646302"/>
          </a:xfrm>
        </p:spPr>
        <p:txBody>
          <a:bodyPr anchor="ctr"/>
          <a:lstStyle/>
          <a:p>
            <a:pPr algn="ctr"/>
            <a:r>
              <a:rPr lang="en-US" altLang="zh-CN" dirty="0"/>
              <a:t>MentorX</a:t>
            </a:r>
            <a:endParaRPr lang="zh-CN" altLang="en-US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60E314B-CBC3-912C-DC06-E5FE7DF91B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78331" y="2551470"/>
            <a:ext cx="4305054" cy="457372"/>
          </a:xfrm>
        </p:spPr>
        <p:txBody>
          <a:bodyPr>
            <a:normAutofit/>
          </a:bodyPr>
          <a:lstStyle/>
          <a:p>
            <a:r>
              <a:rPr lang="zh-CN" altLang="en-US" dirty="0"/>
              <a:t>基于开源</a:t>
            </a:r>
            <a:r>
              <a:rPr lang="en-US" altLang="zh-CN" dirty="0"/>
              <a:t>AI</a:t>
            </a:r>
            <a:r>
              <a:rPr lang="zh-CN" altLang="en-US" dirty="0"/>
              <a:t>大模型的教学实训智能体软件</a:t>
            </a:r>
            <a:endParaRPr lang="en-US" altLang="zh-CN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9B1324C-B758-E705-73BB-E6415D463D40}"/>
              </a:ext>
            </a:extLst>
          </p:cNvPr>
          <p:cNvCxnSpPr/>
          <p:nvPr/>
        </p:nvCxnSpPr>
        <p:spPr>
          <a:xfrm>
            <a:off x="4798832" y="3008842"/>
            <a:ext cx="447276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452A114F-01AD-D3F3-AE17-E71C767C4046}"/>
              </a:ext>
            </a:extLst>
          </p:cNvPr>
          <p:cNvSpPr/>
          <p:nvPr/>
        </p:nvSpPr>
        <p:spPr>
          <a:xfrm>
            <a:off x="4798831" y="3296089"/>
            <a:ext cx="4472763" cy="1779180"/>
          </a:xfrm>
          <a:prstGeom prst="roundRect">
            <a:avLst/>
          </a:prstGeom>
          <a:gradFill flip="none" rotWithShape="1">
            <a:gsLst>
              <a:gs pos="0">
                <a:srgbClr val="92D050">
                  <a:shade val="30000"/>
                  <a:satMod val="115000"/>
                </a:srgbClr>
              </a:gs>
              <a:gs pos="50000">
                <a:srgbClr val="92D050">
                  <a:shade val="67500"/>
                  <a:satMod val="115000"/>
                </a:srgbClr>
              </a:gs>
              <a:gs pos="100000">
                <a:srgbClr val="92D050">
                  <a:shade val="100000"/>
                  <a:satMod val="115000"/>
                </a:srgb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小组成员：</a:t>
            </a:r>
            <a:endParaRPr lang="en-US" altLang="zh-CN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吴东霖</a:t>
            </a:r>
            <a:endParaRPr lang="en-US" altLang="zh-CN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宋彧</a:t>
            </a:r>
            <a:endParaRPr lang="en-US" altLang="zh-CN" sz="2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342900" indent="-342900">
              <a:buAutoNum type="arabicPeriod"/>
            </a:pPr>
            <a:r>
              <a:rPr lang="zh-CN" altLang="en-US" sz="2400" dirty="0">
                <a:latin typeface="幼圆" panose="02010509060101010101" pitchFamily="49" charset="-122"/>
                <a:ea typeface="幼圆" panose="02010509060101010101" pitchFamily="49" charset="-122"/>
              </a:rPr>
              <a:t>王钧悦</a:t>
            </a: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C43D3B46-B906-D3F9-7B6A-F238205F7E45}"/>
              </a:ext>
            </a:extLst>
          </p:cNvPr>
          <p:cNvSpPr/>
          <p:nvPr/>
        </p:nvSpPr>
        <p:spPr>
          <a:xfrm>
            <a:off x="2072146" y="1681797"/>
            <a:ext cx="1616149" cy="1616149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  <a:shade val="30000"/>
                  <a:satMod val="115000"/>
                </a:schemeClr>
              </a:gs>
              <a:gs pos="50000">
                <a:schemeClr val="accent2">
                  <a:lumMod val="60000"/>
                  <a:lumOff val="40000"/>
                  <a:shade val="67500"/>
                  <a:satMod val="115000"/>
                </a:schemeClr>
              </a:gs>
              <a:gs pos="100000">
                <a:schemeClr val="accent2">
                  <a:lumMod val="60000"/>
                  <a:lumOff val="40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7BAD602-8268-C532-8BF6-493FC30EA7C6}"/>
              </a:ext>
            </a:extLst>
          </p:cNvPr>
          <p:cNvSpPr/>
          <p:nvPr/>
        </p:nvSpPr>
        <p:spPr>
          <a:xfrm>
            <a:off x="2941678" y="2200767"/>
            <a:ext cx="1616149" cy="1616149"/>
          </a:xfrm>
          <a:prstGeom prst="ellipse">
            <a:avLst/>
          </a:prstGeom>
          <a:gradFill flip="none" rotWithShape="1">
            <a:gsLst>
              <a:gs pos="0">
                <a:schemeClr val="accent2">
                  <a:lumMod val="75000"/>
                  <a:shade val="30000"/>
                  <a:satMod val="115000"/>
                </a:schemeClr>
              </a:gs>
              <a:gs pos="50000">
                <a:schemeClr val="accent2">
                  <a:lumMod val="75000"/>
                  <a:shade val="67500"/>
                  <a:satMod val="115000"/>
                </a:schemeClr>
              </a:gs>
              <a:gs pos="100000">
                <a:schemeClr val="accent2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C0DE1E3-8590-6D3C-4210-3ED4E863A17D}"/>
              </a:ext>
            </a:extLst>
          </p:cNvPr>
          <p:cNvSpPr/>
          <p:nvPr/>
        </p:nvSpPr>
        <p:spPr>
          <a:xfrm>
            <a:off x="1928041" y="2719737"/>
            <a:ext cx="1616149" cy="1616149"/>
          </a:xfrm>
          <a:prstGeom prst="ellipse">
            <a:avLst/>
          </a:prstGeom>
          <a:gradFill flip="none" rotWithShape="1">
            <a:gsLst>
              <a:gs pos="0">
                <a:schemeClr val="accent1">
                  <a:lumMod val="75000"/>
                  <a:shade val="30000"/>
                  <a:satMod val="115000"/>
                </a:schemeClr>
              </a:gs>
              <a:gs pos="50000">
                <a:schemeClr val="accent1">
                  <a:lumMod val="75000"/>
                  <a:shade val="67500"/>
                  <a:satMod val="115000"/>
                </a:schemeClr>
              </a:gs>
              <a:gs pos="100000">
                <a:schemeClr val="accent1">
                  <a:lumMod val="75000"/>
                  <a:shade val="100000"/>
                  <a:satMod val="115000"/>
                </a:schemeClr>
              </a:gs>
            </a:gsLst>
            <a:lin ang="2700000" scaled="1"/>
            <a:tileRect/>
          </a:gradFill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8381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1308D1-13A6-3C3E-B46D-C38EB73DE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430323"/>
            <a:ext cx="8596668" cy="772633"/>
          </a:xfrm>
        </p:spPr>
        <p:txBody>
          <a:bodyPr>
            <a:normAutofit/>
          </a:bodyPr>
          <a:lstStyle/>
          <a:p>
            <a:pPr algn="ctr"/>
            <a:r>
              <a:rPr lang="zh-CN" altLang="en-US" sz="4400" b="1" dirty="0">
                <a:latin typeface="幼圆" panose="02010509060101010101" pitchFamily="49" charset="-122"/>
                <a:ea typeface="幼圆" panose="02010509060101010101" pitchFamily="49" charset="-122"/>
              </a:rPr>
              <a:t>目录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E0E3CA-415F-E805-2CC5-273BDFE694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4174" y="1382231"/>
            <a:ext cx="4121494" cy="4659129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5400" dirty="0">
                <a:latin typeface="幼圆" panose="02010509060101010101" pitchFamily="49" charset="-122"/>
                <a:ea typeface="幼圆" panose="02010509060101010101" pitchFamily="49" charset="-122"/>
              </a:rPr>
              <a:t>1. </a:t>
            </a:r>
            <a:r>
              <a:rPr lang="zh-CN" altLang="en-US" sz="5400" dirty="0">
                <a:latin typeface="幼圆" panose="02010509060101010101" pitchFamily="49" charset="-122"/>
                <a:ea typeface="幼圆" panose="02010509060101010101" pitchFamily="49" charset="-122"/>
              </a:rPr>
              <a:t>项目背景</a:t>
            </a:r>
            <a:endParaRPr lang="en-US" altLang="zh-CN" sz="5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5400" dirty="0">
                <a:latin typeface="幼圆" panose="02010509060101010101" pitchFamily="49" charset="-122"/>
                <a:ea typeface="幼圆" panose="02010509060101010101" pitchFamily="49" charset="-122"/>
              </a:rPr>
              <a:t>2. </a:t>
            </a:r>
            <a:r>
              <a:rPr lang="zh-CN" altLang="en-US" sz="5400" dirty="0">
                <a:latin typeface="幼圆" panose="02010509060101010101" pitchFamily="49" charset="-122"/>
                <a:ea typeface="幼圆" panose="02010509060101010101" pitchFamily="49" charset="-122"/>
              </a:rPr>
              <a:t>人员分工</a:t>
            </a:r>
            <a:endParaRPr lang="en-US" altLang="zh-CN" sz="5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5400" dirty="0">
                <a:latin typeface="幼圆" panose="02010509060101010101" pitchFamily="49" charset="-122"/>
                <a:ea typeface="幼圆" panose="02010509060101010101" pitchFamily="49" charset="-122"/>
              </a:rPr>
              <a:t>3. </a:t>
            </a:r>
            <a:r>
              <a:rPr lang="zh-CN" altLang="en-US" sz="5400" dirty="0">
                <a:latin typeface="幼圆" panose="02010509060101010101" pitchFamily="49" charset="-122"/>
                <a:ea typeface="幼圆" panose="02010509060101010101" pitchFamily="49" charset="-122"/>
              </a:rPr>
              <a:t>系统结构</a:t>
            </a:r>
            <a:endParaRPr lang="en-US" altLang="zh-CN" sz="5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4" name="内容占位符 2">
            <a:extLst>
              <a:ext uri="{FF2B5EF4-FFF2-40B4-BE49-F238E27FC236}">
                <a16:creationId xmlns:a16="http://schemas.microsoft.com/office/drawing/2014/main" id="{914B1AC4-66BA-F198-99D4-871FAC57A540}"/>
              </a:ext>
            </a:extLst>
          </p:cNvPr>
          <p:cNvSpPr txBox="1">
            <a:spLocks/>
          </p:cNvSpPr>
          <p:nvPr/>
        </p:nvSpPr>
        <p:spPr>
          <a:xfrm>
            <a:off x="5386029" y="1382230"/>
            <a:ext cx="4008475" cy="46591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5400" dirty="0">
                <a:latin typeface="幼圆" panose="02010509060101010101" pitchFamily="49" charset="-122"/>
                <a:ea typeface="幼圆" panose="02010509060101010101" pitchFamily="49" charset="-122"/>
              </a:rPr>
              <a:t>4. </a:t>
            </a:r>
            <a:r>
              <a:rPr lang="zh-CN" altLang="en-US" sz="5400" dirty="0">
                <a:latin typeface="幼圆" panose="02010509060101010101" pitchFamily="49" charset="-122"/>
                <a:ea typeface="幼圆" panose="02010509060101010101" pitchFamily="49" charset="-122"/>
              </a:rPr>
              <a:t>功能介绍</a:t>
            </a:r>
            <a:endParaRPr lang="en-US" altLang="zh-CN" sz="5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5400" dirty="0">
                <a:latin typeface="幼圆" panose="02010509060101010101" pitchFamily="49" charset="-122"/>
                <a:ea typeface="幼圆" panose="02010509060101010101" pitchFamily="49" charset="-122"/>
              </a:rPr>
              <a:t>5. </a:t>
            </a:r>
            <a:r>
              <a:rPr lang="zh-CN" altLang="en-US" sz="5400" dirty="0">
                <a:latin typeface="幼圆" panose="02010509060101010101" pitchFamily="49" charset="-122"/>
                <a:ea typeface="幼圆" panose="02010509060101010101" pitchFamily="49" charset="-122"/>
              </a:rPr>
              <a:t>界面展示</a:t>
            </a:r>
            <a:endParaRPr lang="en-US" altLang="zh-CN" sz="5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5400" dirty="0">
                <a:latin typeface="幼圆" panose="02010509060101010101" pitchFamily="49" charset="-122"/>
                <a:ea typeface="幼圆" panose="02010509060101010101" pitchFamily="49" charset="-122"/>
              </a:rPr>
              <a:t>6. </a:t>
            </a:r>
            <a:r>
              <a:rPr lang="zh-CN" altLang="en-US" sz="5400" dirty="0">
                <a:latin typeface="幼圆" panose="02010509060101010101" pitchFamily="49" charset="-122"/>
                <a:ea typeface="幼圆" panose="02010509060101010101" pitchFamily="49" charset="-122"/>
              </a:rPr>
              <a:t>项目心得</a:t>
            </a:r>
            <a:endParaRPr lang="en-US" altLang="zh-CN" sz="54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en-US" dirty="0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A634DE56-F910-C081-DCA6-7992331BA192}"/>
              </a:ext>
            </a:extLst>
          </p:cNvPr>
          <p:cNvCxnSpPr/>
          <p:nvPr/>
        </p:nvCxnSpPr>
        <p:spPr>
          <a:xfrm>
            <a:off x="4975668" y="1382231"/>
            <a:ext cx="0" cy="438770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8359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477E70-8163-7606-8C10-B4342BBCA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58456"/>
          </a:xfrm>
        </p:spPr>
        <p:txBody>
          <a:bodyPr/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1.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项目背景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389F0D-DA70-9D40-DAF3-2828DCDD74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446029"/>
            <a:ext cx="8596668" cy="4595334"/>
          </a:xfrm>
        </p:spPr>
        <p:txBody>
          <a:bodyPr/>
          <a:lstStyle/>
          <a:p>
            <a:r>
              <a:rPr lang="zh-CN" altLang="en-US" dirty="0"/>
              <a:t>国家大力推进教育数字化战略，传统教学模式在规模化、个性化层面存在短板，本赛题聚焦大模型与实训教学深度融合，推动教育数字化从理论到规模化实践，支撑高素质应用型人才培养。</a:t>
            </a:r>
            <a:endParaRPr lang="en-US" altLang="zh-CN" dirty="0"/>
          </a:p>
          <a:p>
            <a:r>
              <a:rPr lang="zh-CN" altLang="en-US" b="1" dirty="0"/>
              <a:t>实现目标</a:t>
            </a:r>
            <a:r>
              <a:rPr lang="zh-CN" altLang="en-US" dirty="0"/>
              <a:t>：本项目旨在开发一个基于开源大模型的教学实训智能体软件，帮助教师生成课前备课设计、课后检测问答，提升效率与效果，提供学生全时在线练习与指导，实现教学相长。</a:t>
            </a:r>
            <a:endParaRPr lang="en-US" altLang="zh-CN" dirty="0"/>
          </a:p>
          <a:p>
            <a:r>
              <a:rPr lang="zh-CN" altLang="en-US" b="1" dirty="0"/>
              <a:t>实用价值：</a:t>
            </a:r>
            <a:r>
              <a:rPr lang="zh-CN" altLang="en-US" dirty="0"/>
              <a:t>解决传统实训教学中教师手动设计任务、批改效率低、学生缺乏针对性指导等问题，推动实训教学向智能化、自适应化转型，降低教学成本，提升学习效果。</a:t>
            </a:r>
            <a:endParaRPr lang="en-US" altLang="zh-CN" dirty="0"/>
          </a:p>
          <a:p>
            <a:r>
              <a:rPr lang="zh-CN" altLang="en-US" b="1" dirty="0"/>
              <a:t>涉及技术：</a:t>
            </a:r>
            <a:r>
              <a:rPr lang="zh-CN" altLang="en-US" dirty="0"/>
              <a:t>自然语言处理、大模型本地知识库技术、自动化评估技术等</a:t>
            </a:r>
            <a:endParaRPr lang="en-US" altLang="zh-CN" dirty="0"/>
          </a:p>
          <a:p>
            <a:r>
              <a:rPr lang="zh-CN" altLang="en-US" b="1" dirty="0"/>
              <a:t>整体要求：</a:t>
            </a:r>
            <a:r>
              <a:rPr lang="zh-CN" altLang="en-US" dirty="0"/>
              <a:t>基于开源的大模型技术，开发一个智能化教学实训智能体软件，实现教师智能备课设计、智能考核、学情数据分析与可视化、学生实时学习问答、资源推荐、练习纠错等，推动教育资源智能化升级。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F706C29-4314-43BC-C41F-71767267CE9E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9693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E1A565-2CD6-562B-C80F-8E6FD8DFC4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737191"/>
          </a:xfrm>
        </p:spPr>
        <p:txBody>
          <a:bodyPr/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2.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人员分工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6CFE9918-6F99-8349-771B-E102911864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535" y="1977656"/>
            <a:ext cx="1302488" cy="1302488"/>
          </a:xfrm>
          <a:prstGeom prst="ellipse">
            <a:avLst/>
          </a:prstGeom>
          <a:ln w="19050">
            <a:solidFill>
              <a:srgbClr val="92D050"/>
            </a:solidFill>
          </a:ln>
          <a:effectLst/>
        </p:spPr>
      </p:pic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021F4175-A614-20D2-015E-CE019E00AEBB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10">
            <a:extLst>
              <a:ext uri="{FF2B5EF4-FFF2-40B4-BE49-F238E27FC236}">
                <a16:creationId xmlns:a16="http://schemas.microsoft.com/office/drawing/2014/main" id="{87C2B75F-2819-E7B7-93DC-98D530A0D2AA}"/>
              </a:ext>
            </a:extLst>
          </p:cNvPr>
          <p:cNvSpPr txBox="1">
            <a:spLocks/>
          </p:cNvSpPr>
          <p:nvPr/>
        </p:nvSpPr>
        <p:spPr>
          <a:xfrm>
            <a:off x="2063023" y="2167235"/>
            <a:ext cx="116219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Arial" panose="020B0604020202020204" pitchFamily="34" charset="0"/>
              </a:rPr>
              <a:t>吴东霖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D4F1807-C425-3817-8DF0-22879DFAF0BD}"/>
              </a:ext>
            </a:extLst>
          </p:cNvPr>
          <p:cNvCxnSpPr>
            <a:cxnSpLocks/>
          </p:cNvCxnSpPr>
          <p:nvPr/>
        </p:nvCxnSpPr>
        <p:spPr>
          <a:xfrm>
            <a:off x="2063023" y="2628900"/>
            <a:ext cx="14173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文本框 10">
            <a:extLst>
              <a:ext uri="{FF2B5EF4-FFF2-40B4-BE49-F238E27FC236}">
                <a16:creationId xmlns:a16="http://schemas.microsoft.com/office/drawing/2014/main" id="{A5833402-AEB3-96CD-29AC-6AB5CBA1421F}"/>
              </a:ext>
            </a:extLst>
          </p:cNvPr>
          <p:cNvSpPr txBox="1"/>
          <p:nvPr/>
        </p:nvSpPr>
        <p:spPr>
          <a:xfrm>
            <a:off x="2063023" y="2675066"/>
            <a:ext cx="1828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数据库、大模型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2B8A4C0B-CC32-42B0-CB91-563969EE3E04}"/>
              </a:ext>
            </a:extLst>
          </p:cNvPr>
          <p:cNvSpPr/>
          <p:nvPr/>
        </p:nvSpPr>
        <p:spPr>
          <a:xfrm>
            <a:off x="893140" y="3469723"/>
            <a:ext cx="2863702" cy="26368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接口与数据库设计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后端大模型调用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后端数据库调用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后端接口测试</a:t>
            </a:r>
          </a:p>
        </p:txBody>
      </p:sp>
      <p:pic>
        <p:nvPicPr>
          <p:cNvPr id="16" name="内容占位符 5">
            <a:extLst>
              <a:ext uri="{FF2B5EF4-FFF2-40B4-BE49-F238E27FC236}">
                <a16:creationId xmlns:a16="http://schemas.microsoft.com/office/drawing/2014/main" id="{BDEE5BB5-CCE7-A117-8FD7-EC9F25B379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8103" y="1977656"/>
            <a:ext cx="1302488" cy="1302488"/>
          </a:xfrm>
          <a:prstGeom prst="ellipse">
            <a:avLst/>
          </a:prstGeom>
          <a:ln w="19050">
            <a:solidFill>
              <a:srgbClr val="92D050"/>
            </a:solidFill>
          </a:ln>
          <a:effectLst/>
        </p:spPr>
      </p:pic>
      <p:sp>
        <p:nvSpPr>
          <p:cNvPr id="17" name="文本占位符 10">
            <a:extLst>
              <a:ext uri="{FF2B5EF4-FFF2-40B4-BE49-F238E27FC236}">
                <a16:creationId xmlns:a16="http://schemas.microsoft.com/office/drawing/2014/main" id="{2C788642-A114-C798-1B06-68ECC9F414F3}"/>
              </a:ext>
            </a:extLst>
          </p:cNvPr>
          <p:cNvSpPr txBox="1">
            <a:spLocks/>
          </p:cNvSpPr>
          <p:nvPr/>
        </p:nvSpPr>
        <p:spPr>
          <a:xfrm>
            <a:off x="5080591" y="2167235"/>
            <a:ext cx="116219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Arial" panose="020B0604020202020204" pitchFamily="34" charset="0"/>
              </a:rPr>
              <a:t>宋彧</a:t>
            </a:r>
          </a:p>
        </p:txBody>
      </p: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74D4D459-172E-422D-E1EE-562E9D884398}"/>
              </a:ext>
            </a:extLst>
          </p:cNvPr>
          <p:cNvCxnSpPr>
            <a:cxnSpLocks/>
          </p:cNvCxnSpPr>
          <p:nvPr/>
        </p:nvCxnSpPr>
        <p:spPr>
          <a:xfrm>
            <a:off x="5080591" y="2628900"/>
            <a:ext cx="145488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683F2455-9E6D-833D-7A33-6B8701ED08EF}"/>
              </a:ext>
            </a:extLst>
          </p:cNvPr>
          <p:cNvSpPr txBox="1"/>
          <p:nvPr/>
        </p:nvSpPr>
        <p:spPr>
          <a:xfrm>
            <a:off x="5080591" y="2675066"/>
            <a:ext cx="1828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大模型、页面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487352A8-18A9-6F69-D8C4-4AB7B2A32C32}"/>
              </a:ext>
            </a:extLst>
          </p:cNvPr>
          <p:cNvSpPr/>
          <p:nvPr/>
        </p:nvSpPr>
        <p:spPr>
          <a:xfrm>
            <a:off x="3910708" y="3469723"/>
            <a:ext cx="2863702" cy="26368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部分接口设计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部分模型调用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教师端、管理端页面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程序整体框架设计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页面样式的优化处理</a:t>
            </a:r>
          </a:p>
        </p:txBody>
      </p:sp>
      <p:pic>
        <p:nvPicPr>
          <p:cNvPr id="21" name="内容占位符 5">
            <a:extLst>
              <a:ext uri="{FF2B5EF4-FFF2-40B4-BE49-F238E27FC236}">
                <a16:creationId xmlns:a16="http://schemas.microsoft.com/office/drawing/2014/main" id="{F1CD4946-CD41-6D56-B108-4AF6AF57692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5351" y="1977656"/>
            <a:ext cx="1302488" cy="1302488"/>
          </a:xfrm>
          <a:prstGeom prst="ellipse">
            <a:avLst/>
          </a:prstGeom>
          <a:ln w="19050">
            <a:solidFill>
              <a:srgbClr val="92D050"/>
            </a:solidFill>
          </a:ln>
          <a:effectLst/>
        </p:spPr>
      </p:pic>
      <p:sp>
        <p:nvSpPr>
          <p:cNvPr id="22" name="文本占位符 10">
            <a:extLst>
              <a:ext uri="{FF2B5EF4-FFF2-40B4-BE49-F238E27FC236}">
                <a16:creationId xmlns:a16="http://schemas.microsoft.com/office/drawing/2014/main" id="{FEED6102-9D16-678A-833E-DCD1AD5A8A33}"/>
              </a:ext>
            </a:extLst>
          </p:cNvPr>
          <p:cNvSpPr txBox="1">
            <a:spLocks/>
          </p:cNvSpPr>
          <p:nvPr/>
        </p:nvSpPr>
        <p:spPr>
          <a:xfrm>
            <a:off x="8087839" y="2167235"/>
            <a:ext cx="1162191" cy="461665"/>
          </a:xfrm>
          <a:prstGeom prst="rect">
            <a:avLst/>
          </a:prstGeom>
        </p:spPr>
        <p:txBody>
          <a:bodyPr wrap="square">
            <a:sp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400" b="1" dirty="0">
                <a:latin typeface="幼圆" panose="02010509060101010101" pitchFamily="49" charset="-122"/>
                <a:ea typeface="幼圆" panose="02010509060101010101" pitchFamily="49" charset="-122"/>
                <a:cs typeface="+mn-ea"/>
                <a:sym typeface="Arial" panose="020B0604020202020204" pitchFamily="34" charset="0"/>
              </a:rPr>
              <a:t>王钧悦</a:t>
            </a:r>
          </a:p>
        </p:txBody>
      </p: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46E3A469-22F5-25A3-A644-ACDF020C7CE9}"/>
              </a:ext>
            </a:extLst>
          </p:cNvPr>
          <p:cNvCxnSpPr>
            <a:cxnSpLocks/>
          </p:cNvCxnSpPr>
          <p:nvPr/>
        </p:nvCxnSpPr>
        <p:spPr>
          <a:xfrm>
            <a:off x="8087839" y="2628900"/>
            <a:ext cx="143184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>
            <a:extLst>
              <a:ext uri="{FF2B5EF4-FFF2-40B4-BE49-F238E27FC236}">
                <a16:creationId xmlns:a16="http://schemas.microsoft.com/office/drawing/2014/main" id="{D22802D9-58C2-8038-8A17-556CD6CF54EA}"/>
              </a:ext>
            </a:extLst>
          </p:cNvPr>
          <p:cNvSpPr txBox="1"/>
          <p:nvPr/>
        </p:nvSpPr>
        <p:spPr>
          <a:xfrm>
            <a:off x="8087839" y="2675066"/>
            <a:ext cx="18284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幼圆" panose="02010509060101010101" pitchFamily="49" charset="-122"/>
                <a:ea typeface="幼圆" panose="02010509060101010101" pitchFamily="49" charset="-122"/>
              </a:rPr>
              <a:t>页面</a:t>
            </a:r>
            <a:endParaRPr lang="en-US" altLang="zh-CN" sz="1400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2FC783D9-F3F2-CB86-71C4-8F59F0FEB992}"/>
              </a:ext>
            </a:extLst>
          </p:cNvPr>
          <p:cNvSpPr/>
          <p:nvPr/>
        </p:nvSpPr>
        <p:spPr>
          <a:xfrm>
            <a:off x="6917956" y="3469723"/>
            <a:ext cx="2863702" cy="2636874"/>
          </a:xfrm>
          <a:prstGeom prst="roundRect">
            <a:avLst/>
          </a:prstGeom>
          <a:gradFill flip="none" rotWithShape="1">
            <a:gsLst>
              <a:gs pos="0">
                <a:schemeClr val="accent1">
                  <a:lumMod val="60000"/>
                  <a:lumOff val="40000"/>
                  <a:tint val="66000"/>
                  <a:satMod val="160000"/>
                </a:schemeClr>
              </a:gs>
              <a:gs pos="50000">
                <a:schemeClr val="accent1">
                  <a:lumMod val="60000"/>
                  <a:lumOff val="40000"/>
                  <a:tint val="44500"/>
                  <a:satMod val="160000"/>
                </a:schemeClr>
              </a:gs>
              <a:gs pos="100000">
                <a:schemeClr val="accent1">
                  <a:lumMod val="60000"/>
                  <a:lumOff val="40000"/>
                  <a:tint val="23500"/>
                  <a:satMod val="160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学生端页面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accent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·</a:t>
            </a:r>
            <a:r>
              <a:rPr lang="zh-CN" altLang="en-US" dirty="0">
                <a:solidFill>
                  <a:schemeClr val="tx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页面样式的优化处理</a:t>
            </a:r>
            <a:endParaRPr lang="en-US" altLang="zh-CN" dirty="0">
              <a:solidFill>
                <a:schemeClr val="tx1"/>
              </a:solidFill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96004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7D5187-3235-18E3-869D-FF031FC291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3.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系统结构</a:t>
            </a:r>
          </a:p>
        </p:txBody>
      </p:sp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id="{3E2029AB-945C-7228-E491-CA5B9025B18B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A2EDA5AA-4344-EC00-C9DC-3EF8F3B350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9433" y="1830793"/>
            <a:ext cx="6237768" cy="347338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1E7533F-ED76-7A1D-28AA-4B0935D4933E}"/>
              </a:ext>
            </a:extLst>
          </p:cNvPr>
          <p:cNvSpPr txBox="1"/>
          <p:nvPr/>
        </p:nvSpPr>
        <p:spPr>
          <a:xfrm>
            <a:off x="1360966" y="5304176"/>
            <a:ext cx="755620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MentorX</a:t>
            </a:r>
            <a:r>
              <a:rPr lang="zh-CN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采用前后端分离开发技术，前端使用vue3框架，后端使用flask框架；使用MySQL存储用户基本信息、</a:t>
            </a:r>
            <a:r>
              <a:rPr lang="zh-CN" altLang="en-US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课程章节课件</a:t>
            </a:r>
            <a:r>
              <a:rPr lang="zh-CN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以及</a:t>
            </a:r>
            <a:r>
              <a:rPr lang="zh-CN" altLang="en-US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章节习题以及</a:t>
            </a:r>
            <a:r>
              <a:rPr lang="en-US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聊天记录</a:t>
            </a:r>
            <a:r>
              <a:rPr lang="zh-CN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；</a:t>
            </a:r>
            <a:r>
              <a:rPr lang="zh-CN" altLang="en-US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生成章节课件、生成习题、批改习题、</a:t>
            </a:r>
            <a:r>
              <a:rPr lang="en-US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辅导等功能</a:t>
            </a:r>
            <a:r>
              <a:rPr lang="zh-CN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通过</a:t>
            </a:r>
            <a:r>
              <a:rPr lang="en-US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Spark X1</a:t>
            </a:r>
            <a:r>
              <a:rPr lang="zh-CN" altLang="zh-CN" dirty="0">
                <a:solidFill>
                  <a:srgbClr val="333333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大语言模型实现。</a:t>
            </a:r>
            <a:endParaRPr lang="zh-CN" altLang="zh-CN" sz="3200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F7479EB7-8D11-C9AE-C66D-C1AB238274C4}"/>
              </a:ext>
            </a:extLst>
          </p:cNvPr>
          <p:cNvSpPr txBox="1"/>
          <p:nvPr/>
        </p:nvSpPr>
        <p:spPr>
          <a:xfrm>
            <a:off x="4149054" y="1376799"/>
            <a:ext cx="198002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技术栈结构</a:t>
            </a:r>
          </a:p>
        </p:txBody>
      </p:sp>
    </p:spTree>
    <p:extLst>
      <p:ext uri="{BB962C8B-B14F-4D97-AF65-F5344CB8AC3E}">
        <p14:creationId xmlns:p14="http://schemas.microsoft.com/office/powerpoint/2010/main" val="27410396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标题 1">
            <a:extLst>
              <a:ext uri="{FF2B5EF4-FFF2-40B4-BE49-F238E27FC236}">
                <a16:creationId xmlns:a16="http://schemas.microsoft.com/office/drawing/2014/main" id="{1D3C4EE0-9418-7C2D-95C0-6F3B4B754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3.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系统结构</a:t>
            </a: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6D60070-1444-73D1-5E50-C1E83532D3F0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>
            <a:extLst>
              <a:ext uri="{FF2B5EF4-FFF2-40B4-BE49-F238E27FC236}">
                <a16:creationId xmlns:a16="http://schemas.microsoft.com/office/drawing/2014/main" id="{279D7BBE-DF61-FE19-7A32-9F3B739A85C0}"/>
              </a:ext>
            </a:extLst>
          </p:cNvPr>
          <p:cNvSpPr txBox="1"/>
          <p:nvPr/>
        </p:nvSpPr>
        <p:spPr>
          <a:xfrm>
            <a:off x="4149054" y="1376799"/>
            <a:ext cx="1627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b="1" dirty="0">
                <a:latin typeface="幼圆" panose="02010509060101010101" pitchFamily="49" charset="-122"/>
                <a:ea typeface="幼圆" panose="02010509060101010101" pitchFamily="49" charset="-122"/>
              </a:rPr>
              <a:t>页面结构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D9F1A74A-4915-8B19-67C4-690A7E4582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82" y="1833024"/>
            <a:ext cx="6769395" cy="3648177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1A202E88-EE92-54B8-6C44-50CCC912B4F7}"/>
              </a:ext>
            </a:extLst>
          </p:cNvPr>
          <p:cNvSpPr txBox="1"/>
          <p:nvPr/>
        </p:nvSpPr>
        <p:spPr>
          <a:xfrm>
            <a:off x="6960781" y="1376799"/>
            <a:ext cx="3494568" cy="45978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MentorX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主要分为学生端、教师端和管理端三个页面。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课程列表为主要页面结构，用户可在课程列表查看各个课程的章节，以及对应的课件、习题。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学生端有答题、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问答等功能；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教师端有生成课件、生成与批改习题等功能；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管理端则可以查看并修改用户信息，查看学习情况统计和系统信息统计。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571162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489205D-8663-78A9-83EC-92888AC66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4.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功能介绍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E8FDEB1C-5889-D689-2D3C-9D009E8D5569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BD8673A7-21D1-15D4-45DD-FEA3292C0E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6" r="23498"/>
          <a:stretch>
            <a:fillRect/>
          </a:stretch>
        </p:blipFill>
        <p:spPr>
          <a:xfrm>
            <a:off x="677334" y="1860988"/>
            <a:ext cx="4044310" cy="156801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7CEEEE-8BF7-DBE1-2347-7479F8D60E83}"/>
              </a:ext>
            </a:extLst>
          </p:cNvPr>
          <p:cNvSpPr txBox="1"/>
          <p:nvPr/>
        </p:nvSpPr>
        <p:spPr>
          <a:xfrm>
            <a:off x="677334" y="3429000"/>
            <a:ext cx="3937196" cy="293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课程列表将展示所有的课程，并且支持通过关键字进行检索。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课程卡片将展示课程名，讲师以及学生数量等信息。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学生端可以选择加入课程，教师端可以选择新增课程，管理端可以选择删除课程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4F745CF6-E6DD-2ABE-D7A0-B99A25B77D01}"/>
              </a:ext>
            </a:extLst>
          </p:cNvPr>
          <p:cNvCxnSpPr>
            <a:cxnSpLocks/>
          </p:cNvCxnSpPr>
          <p:nvPr/>
        </p:nvCxnSpPr>
        <p:spPr>
          <a:xfrm>
            <a:off x="4933508" y="2055628"/>
            <a:ext cx="0" cy="3452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>
            <a:extLst>
              <a:ext uri="{FF2B5EF4-FFF2-40B4-BE49-F238E27FC236}">
                <a16:creationId xmlns:a16="http://schemas.microsoft.com/office/drawing/2014/main" id="{A4BA3F07-26E0-E3B9-1040-CABF05946E3D}"/>
              </a:ext>
            </a:extLst>
          </p:cNvPr>
          <p:cNvSpPr txBox="1"/>
          <p:nvPr/>
        </p:nvSpPr>
        <p:spPr>
          <a:xfrm>
            <a:off x="2040638" y="1282996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课程列表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F14A753-0B66-0D62-C744-D408EB185D1F}"/>
              </a:ext>
            </a:extLst>
          </p:cNvPr>
          <p:cNvSpPr txBox="1"/>
          <p:nvPr/>
        </p:nvSpPr>
        <p:spPr>
          <a:xfrm>
            <a:off x="5054851" y="3429000"/>
            <a:ext cx="4074973" cy="210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章节列表左侧显示该课程的所有章节，并支持切换显示；右侧显示选中章节的相应信息。其中课件学习则是显示该章节的课件信息，教师端可以修改课件内容，并且导出为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Word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文档。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D17292E-A2E9-4D01-E1D6-6641E4A6F0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2118" y="1860988"/>
            <a:ext cx="4212750" cy="1568013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26F560FD-C00C-1542-92E9-369B1E823B44}"/>
              </a:ext>
            </a:extLst>
          </p:cNvPr>
          <p:cNvSpPr txBox="1"/>
          <p:nvPr/>
        </p:nvSpPr>
        <p:spPr>
          <a:xfrm>
            <a:off x="6487043" y="1282996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章节列表</a:t>
            </a:r>
          </a:p>
        </p:txBody>
      </p:sp>
    </p:spTree>
    <p:extLst>
      <p:ext uri="{BB962C8B-B14F-4D97-AF65-F5344CB8AC3E}">
        <p14:creationId xmlns:p14="http://schemas.microsoft.com/office/powerpoint/2010/main" val="3498399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F17F3-D74B-7981-FFAD-0D4747F29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CAAA15EA-385C-B805-9DDD-7A3897E7B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4.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功能介绍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EA0DC2E-1D05-51EA-6D05-F2625D7D50DF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DC9CDE0B-9AB9-E4A8-3F87-9734D1608C20}"/>
              </a:ext>
            </a:extLst>
          </p:cNvPr>
          <p:cNvCxnSpPr>
            <a:cxnSpLocks/>
          </p:cNvCxnSpPr>
          <p:nvPr/>
        </p:nvCxnSpPr>
        <p:spPr>
          <a:xfrm>
            <a:off x="4933508" y="2055628"/>
            <a:ext cx="0" cy="3452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028AACDB-4043-7BCA-2E65-EA9EF414C439}"/>
              </a:ext>
            </a:extLst>
          </p:cNvPr>
          <p:cNvSpPr txBox="1"/>
          <p:nvPr/>
        </p:nvSpPr>
        <p:spPr>
          <a:xfrm>
            <a:off x="1017577" y="4387572"/>
            <a:ext cx="3937196" cy="210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章节习题则展示该章节的习题列表。展示该习题的难度、题型及作答情况。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点击进入习题详情页则可查看完整习题。学生可进行作答，教师可新增习题，并进行批改。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134A475D-F6B4-3C30-181F-109BC1B0C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77" y="2005901"/>
            <a:ext cx="3728484" cy="808117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C72C505F-A4C4-9D49-7EA0-422EE51E8A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577" y="2892273"/>
            <a:ext cx="3728484" cy="1572440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BF56A299-D5F4-0558-F5DE-B22535A0AD30}"/>
              </a:ext>
            </a:extLst>
          </p:cNvPr>
          <p:cNvSpPr txBox="1"/>
          <p:nvPr/>
        </p:nvSpPr>
        <p:spPr>
          <a:xfrm>
            <a:off x="1861508" y="1423673"/>
            <a:ext cx="22493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习题列表与详情页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B96900F-A683-7A0F-26EC-E0D61EFD8BCE}"/>
              </a:ext>
            </a:extLst>
          </p:cNvPr>
          <p:cNvSpPr txBox="1"/>
          <p:nvPr/>
        </p:nvSpPr>
        <p:spPr>
          <a:xfrm>
            <a:off x="5037468" y="3987706"/>
            <a:ext cx="3937196" cy="25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学生端个人练习页面支持学生自己生成习题。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学生可以指定生成习题的题目类型和难度等级。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生成的习题同样将以列表展示，进入习题详情页可以进行作答和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批改。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7027A7DA-94B6-CD34-D6B7-0DD146B803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2220" y="2005901"/>
            <a:ext cx="4044308" cy="1909458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F020917D-7492-0CF3-DE19-1FC1BCA5CB31}"/>
              </a:ext>
            </a:extLst>
          </p:cNvPr>
          <p:cNvSpPr txBox="1"/>
          <p:nvPr/>
        </p:nvSpPr>
        <p:spPr>
          <a:xfrm>
            <a:off x="6139482" y="1423128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学生个人练习</a:t>
            </a:r>
          </a:p>
        </p:txBody>
      </p:sp>
    </p:spTree>
    <p:extLst>
      <p:ext uri="{BB962C8B-B14F-4D97-AF65-F5344CB8AC3E}">
        <p14:creationId xmlns:p14="http://schemas.microsoft.com/office/powerpoint/2010/main" val="13284850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528E9-6BB3-9FC3-3AED-11992F7CE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799566FC-9C0D-3873-A024-3C44FF347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4.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功能介绍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9B0C2F5-D50E-5946-A1B9-908780841813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AC3DA546-6694-F278-F578-9A1E384CFE01}"/>
              </a:ext>
            </a:extLst>
          </p:cNvPr>
          <p:cNvCxnSpPr>
            <a:cxnSpLocks/>
          </p:cNvCxnSpPr>
          <p:nvPr/>
        </p:nvCxnSpPr>
        <p:spPr>
          <a:xfrm>
            <a:off x="4933508" y="2055628"/>
            <a:ext cx="0" cy="3452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FA65D7E2-E44C-BE54-A008-70606B3B1B73}"/>
              </a:ext>
            </a:extLst>
          </p:cNvPr>
          <p:cNvSpPr txBox="1"/>
          <p:nvPr/>
        </p:nvSpPr>
        <p:spPr>
          <a:xfrm>
            <a:off x="677334" y="3961878"/>
            <a:ext cx="3937196" cy="210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在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助手页面，学生可以选择相应的章节，对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进行相关知识的提问，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将结合课件知识进行回答。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助手支持多对话，并能保存聊天记录。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5F0A966E-1476-8BD4-D97C-3AD2D21235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049" y="2055628"/>
            <a:ext cx="4317604" cy="1906250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2D448AEF-5A88-20A1-6B0B-F75337410846}"/>
              </a:ext>
            </a:extLst>
          </p:cNvPr>
          <p:cNvSpPr txBox="1"/>
          <p:nvPr/>
        </p:nvSpPr>
        <p:spPr>
          <a:xfrm>
            <a:off x="1861508" y="1423673"/>
            <a:ext cx="147668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学生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助手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A17EAE-C823-0704-E101-AF4EC9F698CD}"/>
              </a:ext>
            </a:extLst>
          </p:cNvPr>
          <p:cNvSpPr txBox="1"/>
          <p:nvPr/>
        </p:nvSpPr>
        <p:spPr>
          <a:xfrm>
            <a:off x="5169396" y="3429000"/>
            <a:ext cx="3937196" cy="2104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管理端的用户列表页面，展示有所有学生用户和教师用户的基本信息，包括姓名，账号，性别以及在线时长。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管理员可以对用户的姓名和性别信息进行修改，还可以直接删除用户。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FD23841-8BFD-6E46-13A3-7BF7DE63F3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7631" y="2055628"/>
            <a:ext cx="4593657" cy="1174909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8F9ADE52-33B1-4904-C874-5628FA6677AF}"/>
              </a:ext>
            </a:extLst>
          </p:cNvPr>
          <p:cNvSpPr txBox="1"/>
          <p:nvPr/>
        </p:nvSpPr>
        <p:spPr>
          <a:xfrm>
            <a:off x="6529494" y="1457055"/>
            <a:ext cx="121700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用户列表</a:t>
            </a:r>
          </a:p>
        </p:txBody>
      </p:sp>
    </p:spTree>
    <p:extLst>
      <p:ext uri="{BB962C8B-B14F-4D97-AF65-F5344CB8AC3E}">
        <p14:creationId xmlns:p14="http://schemas.microsoft.com/office/powerpoint/2010/main" val="3628100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E8D7B4-451B-1845-ACCA-9A412CE9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B845E893-6A4C-FE3E-C629-5C81FA4F55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4.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功能介绍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41EC5308-0A12-6F9D-90F7-A04585442194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E800946-C801-B7C2-AC8E-997E1A68DC61}"/>
              </a:ext>
            </a:extLst>
          </p:cNvPr>
          <p:cNvSpPr txBox="1"/>
          <p:nvPr/>
        </p:nvSpPr>
        <p:spPr>
          <a:xfrm>
            <a:off x="739356" y="3781646"/>
            <a:ext cx="3937196" cy="25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管理端的学习情况页面将展示学生以及课程的具体学习情况。用户可以查看学生各课程以及各章节的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使用次数，答题次数以及答题准确率，同时也可以查看各个课程所有学生的统计数据。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5C978782-94BF-4251-F218-56F80AEE4B8D}"/>
              </a:ext>
            </a:extLst>
          </p:cNvPr>
          <p:cNvCxnSpPr>
            <a:cxnSpLocks/>
          </p:cNvCxnSpPr>
          <p:nvPr/>
        </p:nvCxnSpPr>
        <p:spPr>
          <a:xfrm>
            <a:off x="4933508" y="2055628"/>
            <a:ext cx="0" cy="3452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D89B53C6-421E-DDA8-0257-D86279517CBB}"/>
              </a:ext>
            </a:extLst>
          </p:cNvPr>
          <p:cNvSpPr txBox="1"/>
          <p:nvPr/>
        </p:nvSpPr>
        <p:spPr>
          <a:xfrm>
            <a:off x="5169396" y="3781646"/>
            <a:ext cx="3937196" cy="25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管理端的统计信息页面，将概括性的展示该系统的相关信息，包括：学生模块使用次数分情况、教师模块使用次数情况，以及用户总数、男女比例、课程总数、章节总数、习题总数，帮助管理者更直观地获取系统信息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0577CF5-BECD-C50E-401D-7D8BA3BBD2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91" y="2055628"/>
            <a:ext cx="4239239" cy="180404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1827E71A-943B-8BB7-B329-BF87A569201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9413"/>
          <a:stretch>
            <a:fillRect/>
          </a:stretch>
        </p:blipFill>
        <p:spPr>
          <a:xfrm>
            <a:off x="5063462" y="2055628"/>
            <a:ext cx="4210540" cy="172601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3AF2F4EF-FD2D-8609-5396-FD77CEE9CA00}"/>
              </a:ext>
            </a:extLst>
          </p:cNvPr>
          <p:cNvSpPr txBox="1"/>
          <p:nvPr/>
        </p:nvSpPr>
        <p:spPr>
          <a:xfrm>
            <a:off x="1841370" y="1447992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学习情况统计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2339BB0-9AB8-9756-DDD6-F1CE536526E1}"/>
              </a:ext>
            </a:extLst>
          </p:cNvPr>
          <p:cNvSpPr txBox="1"/>
          <p:nvPr/>
        </p:nvSpPr>
        <p:spPr>
          <a:xfrm>
            <a:off x="6302148" y="1457044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系统信息统计</a:t>
            </a:r>
          </a:p>
        </p:txBody>
      </p:sp>
    </p:spTree>
    <p:extLst>
      <p:ext uri="{BB962C8B-B14F-4D97-AF65-F5344CB8AC3E}">
        <p14:creationId xmlns:p14="http://schemas.microsoft.com/office/powerpoint/2010/main" val="37915150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CE430-AE32-030C-CE93-F949E57743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65D3108-926E-00C9-54FC-6BE6F9576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4.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功能介绍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2D197589-A281-7AEE-0808-6B196D44D994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BC364320-BDD6-A23C-2F6B-2A020086481D}"/>
              </a:ext>
            </a:extLst>
          </p:cNvPr>
          <p:cNvSpPr txBox="1"/>
          <p:nvPr/>
        </p:nvSpPr>
        <p:spPr>
          <a:xfrm>
            <a:off x="739356" y="3781646"/>
            <a:ext cx="3937196" cy="25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管理端的学习情况页面将展示学生以及课程的具体学习情况。用户可以查看学生各课程以及各章节的</a:t>
            </a:r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AI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使用次数，答题次数以及答题准确率，同时也可以查看各个课程所有学生的统计数据。</a:t>
            </a:r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BB355DA0-CF82-1F86-89DB-FF4AF1FB74BB}"/>
              </a:ext>
            </a:extLst>
          </p:cNvPr>
          <p:cNvCxnSpPr>
            <a:cxnSpLocks/>
          </p:cNvCxnSpPr>
          <p:nvPr/>
        </p:nvCxnSpPr>
        <p:spPr>
          <a:xfrm>
            <a:off x="4933508" y="2055628"/>
            <a:ext cx="0" cy="34520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DF0C6D4-C3D1-63A6-D431-A1CB1D668583}"/>
              </a:ext>
            </a:extLst>
          </p:cNvPr>
          <p:cNvSpPr txBox="1"/>
          <p:nvPr/>
        </p:nvSpPr>
        <p:spPr>
          <a:xfrm>
            <a:off x="5169396" y="3781646"/>
            <a:ext cx="3937196" cy="25203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管理端的统计信息页面，将概括性的展示该系统的相关信息，包括：学生模块使用次数分情况、教师模块使用次数情况，以及用户总数、男女比例、课程总数、章节总数、习题总数，帮助管理者更直观地获取系统信息。</a:t>
            </a:r>
            <a:endParaRPr lang="en-US" altLang="zh-CN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973B5F2-34DB-1084-808E-D5B13D256F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791" y="2055628"/>
            <a:ext cx="4239239" cy="1804044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AA05C64D-6CF4-2740-8CC9-9420BCBAF7B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19413"/>
          <a:stretch>
            <a:fillRect/>
          </a:stretch>
        </p:blipFill>
        <p:spPr>
          <a:xfrm>
            <a:off x="5063462" y="2055628"/>
            <a:ext cx="4210540" cy="1726018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6F04A0B-B093-A38D-7B3C-58171E0ABECC}"/>
              </a:ext>
            </a:extLst>
          </p:cNvPr>
          <p:cNvSpPr txBox="1"/>
          <p:nvPr/>
        </p:nvSpPr>
        <p:spPr>
          <a:xfrm>
            <a:off x="1841370" y="1447992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学习情况统计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93B627E-A243-B8B7-FCD1-18B78F5A956C}"/>
              </a:ext>
            </a:extLst>
          </p:cNvPr>
          <p:cNvSpPr txBox="1"/>
          <p:nvPr/>
        </p:nvSpPr>
        <p:spPr>
          <a:xfrm>
            <a:off x="6302148" y="1457044"/>
            <a:ext cx="17331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系统信息统计</a:t>
            </a:r>
          </a:p>
        </p:txBody>
      </p:sp>
    </p:spTree>
    <p:extLst>
      <p:ext uri="{BB962C8B-B14F-4D97-AF65-F5344CB8AC3E}">
        <p14:creationId xmlns:p14="http://schemas.microsoft.com/office/powerpoint/2010/main" val="4651328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9F376899-EE34-FBB1-96DC-2DF1C374E7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5.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界面展示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E4E6299-A58B-388F-D492-0D519C7BF998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85D621F1-EC2A-6450-3DAC-4287AD41D3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810" y="1375349"/>
            <a:ext cx="9077356" cy="4451293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D2D07F36-8058-95E7-B62C-D6EC77594778}"/>
              </a:ext>
            </a:extLst>
          </p:cNvPr>
          <p:cNvSpPr txBox="1"/>
          <p:nvPr/>
        </p:nvSpPr>
        <p:spPr>
          <a:xfrm>
            <a:off x="786811" y="5961525"/>
            <a:ext cx="9077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首页</a:t>
            </a:r>
          </a:p>
        </p:txBody>
      </p:sp>
    </p:spTree>
    <p:extLst>
      <p:ext uri="{BB962C8B-B14F-4D97-AF65-F5344CB8AC3E}">
        <p14:creationId xmlns:p14="http://schemas.microsoft.com/office/powerpoint/2010/main" val="2901250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9E6AF-BA39-8DFC-8DCE-0C23DF4C00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8074029-E66C-5BE9-B407-BF7C182FC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5.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界面展示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E262A2A-3F06-8119-C25B-A2848665F391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940B1ED8-3107-7021-6B49-16650E45BAFE}"/>
              </a:ext>
            </a:extLst>
          </p:cNvPr>
          <p:cNvSpPr txBox="1"/>
          <p:nvPr/>
        </p:nvSpPr>
        <p:spPr>
          <a:xfrm>
            <a:off x="786811" y="5961525"/>
            <a:ext cx="9077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登录注册界面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A8E1795F-2AED-FF79-3803-95F9D64976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4140" y="1743005"/>
            <a:ext cx="8215423" cy="3987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93497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9FEB21-4575-CAD4-C95E-E288AF9E8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3BEEF6C8-209F-E408-223E-0862B83C7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5.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界面展示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A6A48D33-AC2E-E632-0D2E-313100FECCF2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8DA77A85-87B4-FCF8-4300-0BB1982E7779}"/>
              </a:ext>
            </a:extLst>
          </p:cNvPr>
          <p:cNvSpPr txBox="1"/>
          <p:nvPr/>
        </p:nvSpPr>
        <p:spPr>
          <a:xfrm>
            <a:off x="786811" y="5961525"/>
            <a:ext cx="9077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课程列表页面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学生端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endParaRPr lang="zh-CN" altLang="en-US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13DD0CE-84D0-98A3-17C7-F1B66DB6EA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107" y="1464890"/>
            <a:ext cx="8793956" cy="43263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2262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42489-303C-AD58-7041-5D7C67D761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2D95690A-6592-702E-6513-30C587D2BB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5.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界面展示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6054A572-E0FA-3C70-F287-4C05FB5CF921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AE4A462-D952-AD78-9DE7-7257DA0FAAA4}"/>
              </a:ext>
            </a:extLst>
          </p:cNvPr>
          <p:cNvSpPr txBox="1"/>
          <p:nvPr/>
        </p:nvSpPr>
        <p:spPr>
          <a:xfrm>
            <a:off x="786811" y="5961525"/>
            <a:ext cx="9077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课程章节页面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5D35909-F3A0-A4E6-F720-28A531FD101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107" y="1465766"/>
            <a:ext cx="8793956" cy="432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640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136B53-FD68-0329-E693-483FBE8A06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8C5591C5-583F-C9A9-FD02-C01DDCEA6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5.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界面展示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0874E6FD-6CB2-E08C-C093-4AB67AD79E4C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2066C2DE-7500-BCB8-1B80-B9427D4704EF}"/>
              </a:ext>
            </a:extLst>
          </p:cNvPr>
          <p:cNvSpPr txBox="1"/>
          <p:nvPr/>
        </p:nvSpPr>
        <p:spPr>
          <a:xfrm>
            <a:off x="786811" y="5961525"/>
            <a:ext cx="9077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习题详情页面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(</a:t>
            </a:r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教师端</a:t>
            </a:r>
            <a:r>
              <a:rPr lang="en-US" altLang="zh-CN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)</a:t>
            </a:r>
            <a:endParaRPr lang="zh-CN" altLang="en-US" sz="2000" b="1" dirty="0">
              <a:latin typeface="幼圆" panose="02010509060101010101" pitchFamily="49" charset="-122"/>
              <a:ea typeface="幼圆" panose="02010509060101010101" pitchFamily="49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D87F6C80-8481-1700-C7B2-B40330B329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71108" y="1465766"/>
            <a:ext cx="8793955" cy="432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7558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368AF1-A38B-F31B-6894-FCDB94314F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137EA53C-C3F9-045A-1D81-25899C0EB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5.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界面展示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F82EAB2-8286-A831-62D3-EAAF8A9E1973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49F0A498-A9F3-0F89-3991-888D7B258C8C}"/>
              </a:ext>
            </a:extLst>
          </p:cNvPr>
          <p:cNvSpPr txBox="1"/>
          <p:nvPr/>
        </p:nvSpPr>
        <p:spPr>
          <a:xfrm>
            <a:off x="786811" y="5961525"/>
            <a:ext cx="90773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latin typeface="幼圆" panose="02010509060101010101" pitchFamily="49" charset="-122"/>
                <a:ea typeface="幼圆" panose="02010509060101010101" pitchFamily="49" charset="-122"/>
              </a:rPr>
              <a:t>学习情况页面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F31EB7FB-E2B3-3715-623C-F63F53677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0330" y="1465766"/>
            <a:ext cx="8755511" cy="432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8403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42B98793-36FF-1397-330C-3A579C8A11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588335"/>
          </a:xfrm>
        </p:spPr>
        <p:txBody>
          <a:bodyPr>
            <a:normAutofit fontScale="90000"/>
          </a:bodyPr>
          <a:lstStyle/>
          <a:p>
            <a:r>
              <a:rPr lang="en-US" altLang="zh-CN" dirty="0">
                <a:latin typeface="幼圆" panose="02010509060101010101" pitchFamily="49" charset="-122"/>
                <a:ea typeface="幼圆" panose="02010509060101010101" pitchFamily="49" charset="-122"/>
              </a:rPr>
              <a:t>6. </a:t>
            </a:r>
            <a:r>
              <a:rPr lang="zh-CN" altLang="en-US" dirty="0">
                <a:latin typeface="幼圆" panose="02010509060101010101" pitchFamily="49" charset="-122"/>
                <a:ea typeface="幼圆" panose="02010509060101010101" pitchFamily="49" charset="-122"/>
              </a:rPr>
              <a:t>项目心得</a:t>
            </a: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F4A629C-6D01-F5A9-CB65-0374ECE9B268}"/>
              </a:ext>
            </a:extLst>
          </p:cNvPr>
          <p:cNvCxnSpPr/>
          <p:nvPr/>
        </p:nvCxnSpPr>
        <p:spPr>
          <a:xfrm>
            <a:off x="786810" y="1240465"/>
            <a:ext cx="8343014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占位符 28">
            <a:extLst>
              <a:ext uri="{FF2B5EF4-FFF2-40B4-BE49-F238E27FC236}">
                <a16:creationId xmlns:a16="http://schemas.microsoft.com/office/drawing/2014/main" id="{FAE686D9-926F-3818-7523-362091D95EF6}"/>
              </a:ext>
            </a:extLst>
          </p:cNvPr>
          <p:cNvSpPr txBox="1">
            <a:spLocks/>
          </p:cNvSpPr>
          <p:nvPr/>
        </p:nvSpPr>
        <p:spPr>
          <a:xfrm>
            <a:off x="4148408" y="1790912"/>
            <a:ext cx="2179806" cy="46166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 spc="0">
                <a:solidFill>
                  <a:srgbClr val="000000"/>
                </a:solidFill>
                <a:latin typeface="+mj-lt"/>
                <a:ea typeface="+mn-ea"/>
                <a:cs typeface="+mn-cs"/>
                <a:sym typeface="阿里巴巴普惠体 B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前后端交互</a:t>
            </a:r>
          </a:p>
        </p:txBody>
      </p:sp>
      <p:sp>
        <p:nvSpPr>
          <p:cNvPr id="13" name="文本占位符 29">
            <a:extLst>
              <a:ext uri="{FF2B5EF4-FFF2-40B4-BE49-F238E27FC236}">
                <a16:creationId xmlns:a16="http://schemas.microsoft.com/office/drawing/2014/main" id="{7436C6DE-804E-73CF-E41F-DFD0B15C6458}"/>
              </a:ext>
            </a:extLst>
          </p:cNvPr>
          <p:cNvSpPr txBox="1">
            <a:spLocks/>
          </p:cNvSpPr>
          <p:nvPr/>
        </p:nvSpPr>
        <p:spPr>
          <a:xfrm>
            <a:off x="7328338" y="1790912"/>
            <a:ext cx="2179806" cy="46166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 spc="0">
                <a:solidFill>
                  <a:srgbClr val="000000"/>
                </a:solidFill>
                <a:latin typeface="+mj-lt"/>
                <a:ea typeface="+mn-ea"/>
                <a:cs typeface="+mn-cs"/>
                <a:sym typeface="阿里巴巴普惠体 B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团队协作</a:t>
            </a:r>
          </a:p>
        </p:txBody>
      </p:sp>
      <p:sp>
        <p:nvSpPr>
          <p:cNvPr id="14" name="文本占位符 30">
            <a:extLst>
              <a:ext uri="{FF2B5EF4-FFF2-40B4-BE49-F238E27FC236}">
                <a16:creationId xmlns:a16="http://schemas.microsoft.com/office/drawing/2014/main" id="{C6D92A10-9DDC-B42F-5AE0-0DD10D425A0B}"/>
              </a:ext>
            </a:extLst>
          </p:cNvPr>
          <p:cNvSpPr txBox="1">
            <a:spLocks/>
          </p:cNvSpPr>
          <p:nvPr/>
        </p:nvSpPr>
        <p:spPr>
          <a:xfrm>
            <a:off x="1018105" y="1790912"/>
            <a:ext cx="2179806" cy="46166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b="1" kern="1200" spc="0">
                <a:solidFill>
                  <a:srgbClr val="000000"/>
                </a:solidFill>
                <a:latin typeface="+mj-lt"/>
                <a:ea typeface="+mn-ea"/>
                <a:cs typeface="+mn-cs"/>
                <a:sym typeface="阿里巴巴普惠体 B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代码技能</a:t>
            </a:r>
          </a:p>
        </p:txBody>
      </p:sp>
      <p:sp>
        <p:nvSpPr>
          <p:cNvPr id="15" name="文本占位符 27">
            <a:extLst>
              <a:ext uri="{FF2B5EF4-FFF2-40B4-BE49-F238E27FC236}">
                <a16:creationId xmlns:a16="http://schemas.microsoft.com/office/drawing/2014/main" id="{C2BD68F2-6462-B35F-BBBC-A697D0DFDC1D}"/>
              </a:ext>
            </a:extLst>
          </p:cNvPr>
          <p:cNvSpPr txBox="1">
            <a:spLocks/>
          </p:cNvSpPr>
          <p:nvPr/>
        </p:nvSpPr>
        <p:spPr>
          <a:xfrm>
            <a:off x="666994" y="2535766"/>
            <a:ext cx="2968488" cy="2577500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 spc="0">
                <a:solidFill>
                  <a:srgbClr val="000000"/>
                </a:solidFill>
                <a:latin typeface="+mj-lt"/>
                <a:ea typeface="+mn-ea"/>
                <a:cs typeface="+mn-cs"/>
                <a:sym typeface="阿里巴巴普惠体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/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提高了对数据库的建设与管理技能；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hangingPunct="0"/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提高了对大语言模型的调用能力；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hangingPunct="0"/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提高了对</a:t>
            </a:r>
            <a:r>
              <a:rPr lang="en-US" altLang="zh-CN" dirty="0" err="1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vue</a:t>
            </a:r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框架的使用，页面设计排版，功能的设计技能。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" name="文本占位符 31">
            <a:extLst>
              <a:ext uri="{FF2B5EF4-FFF2-40B4-BE49-F238E27FC236}">
                <a16:creationId xmlns:a16="http://schemas.microsoft.com/office/drawing/2014/main" id="{C83803BA-7D05-731C-1EBD-D66CAB8577DF}"/>
              </a:ext>
            </a:extLst>
          </p:cNvPr>
          <p:cNvSpPr txBox="1">
            <a:spLocks/>
          </p:cNvSpPr>
          <p:nvPr/>
        </p:nvSpPr>
        <p:spPr>
          <a:xfrm>
            <a:off x="3754067" y="2535766"/>
            <a:ext cx="2968488" cy="149720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 spc="0">
                <a:solidFill>
                  <a:srgbClr val="000000"/>
                </a:solidFill>
                <a:latin typeface="+mj-lt"/>
                <a:ea typeface="+mn-ea"/>
                <a:cs typeface="+mn-cs"/>
                <a:sym typeface="阿里巴巴普惠体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/>
            <a:r>
              <a:rPr lang="zh-CN" altLang="en-US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逐渐掌握了实现前后端交互的基本技能，能够实现后端数据库与前端网页的交互功能。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" name="文本占位符 32">
            <a:extLst>
              <a:ext uri="{FF2B5EF4-FFF2-40B4-BE49-F238E27FC236}">
                <a16:creationId xmlns:a16="http://schemas.microsoft.com/office/drawing/2014/main" id="{E4103EF5-08C2-C53E-25D7-999A213CE0B3}"/>
              </a:ext>
            </a:extLst>
          </p:cNvPr>
          <p:cNvSpPr txBox="1">
            <a:spLocks/>
          </p:cNvSpPr>
          <p:nvPr/>
        </p:nvSpPr>
        <p:spPr>
          <a:xfrm>
            <a:off x="6933997" y="2535766"/>
            <a:ext cx="2968488" cy="1497205"/>
          </a:xfrm>
          <a:prstGeom prst="rect">
            <a:avLst/>
          </a:prstGeom>
        </p:spPr>
        <p:txBody>
          <a:bodyPr vert="horz" wrap="square" lIns="91440" tIns="45720" rIns="91440" bIns="45720" anchor="t" anchorCtr="0">
            <a:spAutoFit/>
          </a:bodyPr>
          <a:lstStyle>
            <a:lvl1pPr marL="0" indent="0" algn="just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800" kern="1200" spc="0">
                <a:solidFill>
                  <a:srgbClr val="000000"/>
                </a:solidFill>
                <a:latin typeface="+mj-lt"/>
                <a:ea typeface="+mn-ea"/>
                <a:cs typeface="+mn-cs"/>
                <a:sym typeface="阿里巴巴普惠体" panose="00020600040101010101" pitchFamily="18" charset="-122"/>
              </a:defRPr>
            </a:lvl1pPr>
            <a:lvl2pPr marL="457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/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提高了团队协作能力，沟通能力；</a:t>
            </a:r>
            <a:endParaRPr lang="en-US" altLang="zh-CN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  <a:p>
            <a:pPr hangingPunct="0"/>
            <a:r>
              <a:rPr lang="zh-CN" altLang="en-US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更好地认识到项目从开始到结束的一般流程。</a:t>
            </a:r>
            <a:endParaRPr lang="en-US" altLang="zh-CN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33450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5DA26E-4CFF-82C4-797B-CD450D826B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3641" y="2892056"/>
            <a:ext cx="8596668" cy="1320800"/>
          </a:xfrm>
        </p:spPr>
        <p:txBody>
          <a:bodyPr>
            <a:normAutofit/>
          </a:bodyPr>
          <a:lstStyle/>
          <a:p>
            <a:pPr algn="ctr"/>
            <a:r>
              <a:rPr lang="en-US" altLang="zh-CN" sz="5400" dirty="0">
                <a:latin typeface="Vivaldi" panose="03020602050506090804" pitchFamily="66" charset="0"/>
              </a:rPr>
              <a:t>Thank you</a:t>
            </a:r>
            <a:endParaRPr lang="zh-CN" altLang="en-US" sz="5400" dirty="0">
              <a:latin typeface="Vivaldi" panose="030206020505060908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8635859"/>
      </p:ext>
    </p:extLst>
  </p:cSld>
  <p:clrMapOvr>
    <a:masterClrMapping/>
  </p:clrMapOvr>
</p:sld>
</file>

<file path=ppt/theme/theme1.xml><?xml version="1.0" encoding="utf-8"?>
<a:theme xmlns:a="http://schemas.openxmlformats.org/drawingml/2006/main" name="平面">
  <a:themeElements>
    <a:clrScheme name="平面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平面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平面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267</TotalTime>
  <Words>1162</Words>
  <Application>Microsoft Office PowerPoint</Application>
  <PresentationFormat>宽屏</PresentationFormat>
  <Paragraphs>109</Paragraphs>
  <Slides>19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27" baseType="lpstr">
      <vt:lpstr>仿宋</vt:lpstr>
      <vt:lpstr>幼圆</vt:lpstr>
      <vt:lpstr>等线</vt:lpstr>
      <vt:lpstr>Arial</vt:lpstr>
      <vt:lpstr>Trebuchet MS</vt:lpstr>
      <vt:lpstr>Vivaldi</vt:lpstr>
      <vt:lpstr>Wingdings 3</vt:lpstr>
      <vt:lpstr>平面</vt:lpstr>
      <vt:lpstr>MentorX</vt:lpstr>
      <vt:lpstr>目录</vt:lpstr>
      <vt:lpstr>1. 项目背景</vt:lpstr>
      <vt:lpstr>2. 人员分工</vt:lpstr>
      <vt:lpstr>3. 系统结构</vt:lpstr>
      <vt:lpstr>3. 系统结构</vt:lpstr>
      <vt:lpstr>4. 功能介绍</vt:lpstr>
      <vt:lpstr>4. 功能介绍</vt:lpstr>
      <vt:lpstr>4. 功能介绍</vt:lpstr>
      <vt:lpstr>4. 功能介绍</vt:lpstr>
      <vt:lpstr>4. 功能介绍</vt:lpstr>
      <vt:lpstr>5. 界面展示</vt:lpstr>
      <vt:lpstr>5. 界面展示</vt:lpstr>
      <vt:lpstr>5. 界面展示</vt:lpstr>
      <vt:lpstr>5. 界面展示</vt:lpstr>
      <vt:lpstr>5. 界面展示</vt:lpstr>
      <vt:lpstr>5. 界面展示</vt:lpstr>
      <vt:lpstr>6. 项目心得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 Haibara</dc:creator>
  <cp:lastModifiedBy>Ai Haibara</cp:lastModifiedBy>
  <cp:revision>16</cp:revision>
  <dcterms:created xsi:type="dcterms:W3CDTF">2025-06-29T06:21:36Z</dcterms:created>
  <dcterms:modified xsi:type="dcterms:W3CDTF">2025-06-29T10:49:13Z</dcterms:modified>
</cp:coreProperties>
</file>